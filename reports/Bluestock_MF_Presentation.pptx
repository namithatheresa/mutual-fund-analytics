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aret" charset="1" panose="00000000000000000000"/>
      <p:regular r:id="rId22"/>
    </p:embeddedFont>
    <p:embeddedFont>
      <p:font typeface="Raleway" charset="1" panose="00000000000000000000"/>
      <p:regular r:id="rId23"/>
    </p:embeddedFont>
    <p:embeddedFont>
      <p:font typeface="Raleway Heavy" charset="1" panose="00000000000000000000"/>
      <p:regular r:id="rId24"/>
    </p:embeddedFont>
    <p:embeddedFont>
      <p:font typeface="Garet Bold" charset="1" panose="00000000000000000000"/>
      <p:regular r:id="rId25"/>
    </p:embeddedFont>
    <p:embeddedFont>
      <p:font typeface="Montserrat" charset="1" panose="00000500000000000000"/>
      <p:regular r:id="rId26"/>
    </p:embeddedFont>
    <p:embeddedFont>
      <p:font typeface="Montserrat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67976" y="6737594"/>
            <a:ext cx="5675166" cy="330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spc="15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Bluestock Fintech</a:t>
            </a:r>
          </a:p>
        </p:txBody>
      </p:sp>
      <p:sp>
        <p:nvSpPr>
          <p:cNvPr name="TextBox 15" id="15"/>
          <p:cNvSpPr txBox="true"/>
          <p:nvPr/>
        </p:nvSpPr>
        <p:spPr>
          <a:xfrm rot="-17737">
            <a:off x="1320952" y="8211074"/>
            <a:ext cx="3480197" cy="53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1545" spc="97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Prepared By:</a:t>
            </a:r>
          </a:p>
          <a:p>
            <a:pPr algn="l">
              <a:lnSpc>
                <a:spcPts val="2163"/>
              </a:lnSpc>
              <a:spcBef>
                <a:spcPct val="0"/>
              </a:spcBef>
            </a:pPr>
            <a:r>
              <a:rPr lang="en-US" sz="1545" spc="97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Namitha Theresa VJ</a:t>
            </a:r>
          </a:p>
        </p:txBody>
      </p:sp>
      <p:sp>
        <p:nvSpPr>
          <p:cNvPr name="TextBox 16" id="16"/>
          <p:cNvSpPr txBox="true"/>
          <p:nvPr/>
        </p:nvSpPr>
        <p:spPr>
          <a:xfrm rot="-17737">
            <a:off x="14201031" y="1415891"/>
            <a:ext cx="2622496" cy="2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June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5948" y="1803637"/>
            <a:ext cx="13663973" cy="472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MUTUAL FUND ANALYTICS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64911" y="3340148"/>
            <a:ext cx="12168316" cy="13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0"/>
              </a:lnSpc>
            </a:pPr>
            <a:r>
              <a:rPr lang="en-US" b="true" sz="9026" spc="2906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4911" y="2247968"/>
            <a:ext cx="8011222" cy="104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sz="704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Table 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81365" y="4988955"/>
            <a:ext cx="5579275" cy="3082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Problem Statement &amp; Objectives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Data Sources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Project Architecture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EDA Highlights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88669" y="4999069"/>
            <a:ext cx="1315493" cy="304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04.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60640" y="5030281"/>
            <a:ext cx="1315493" cy="304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05.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06.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07.</a:t>
            </a:r>
          </a:p>
          <a:p>
            <a:pPr algn="r">
              <a:lnSpc>
                <a:spcPts val="6315"/>
              </a:lnSpc>
            </a:pPr>
            <a:r>
              <a:rPr lang="en-US" b="true" sz="2526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08.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9033" y="5004561"/>
            <a:ext cx="6340267" cy="30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Fund Performance Analytics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Advanced Analytics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Dashboard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Key Findings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746234" y="1848489"/>
            <a:ext cx="13927865" cy="1915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b="true" sz="6570" spc="211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PROBLEM STATEMENT &amp; OBJECTIVES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9147" y="5038725"/>
            <a:ext cx="11185865" cy="256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Problem Statement</a:t>
            </a:r>
          </a:p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The mutual fund industry generates large volumes of financial and investor data. Analyzing this data manually is challenging and may lead to inefficient investment decisions.</a:t>
            </a:r>
          </a:p>
          <a:p>
            <a:pPr algn="ctr">
              <a:lnSpc>
                <a:spcPts val="4156"/>
              </a:lnSpc>
            </a:pP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61304" y="3587470"/>
            <a:ext cx="6418865" cy="6298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 marL="361528" indent="-180764" lvl="1">
                  <a:lnSpc>
                    <a:spcPts val="2344"/>
                  </a:lnSpc>
                  <a:buAutoNum type="arabicPeriod" startAt="1"/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5481568" y="2278683"/>
            <a:ext cx="10917247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OBJECTIVES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55353" y="3771564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Clean and validate mutual fund datasets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55353" y="4412301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Analyze industry and investor trends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55353" y="5064144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Evaluate fund performance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55353" y="5683940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Calculate risk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55353" y="6307208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Build recommendation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55353" y="6930476"/>
            <a:ext cx="8769677" cy="38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Develop interactive dashboard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403718" y="4939751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7" y="0"/>
                </a:lnTo>
                <a:lnTo>
                  <a:pt x="39950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Object 10" id="10"/>
          <p:cNvGraphicFramePr/>
          <p:nvPr/>
        </p:nvGraphicFramePr>
        <p:xfrm>
          <a:off x="4077528" y="2828925"/>
          <a:ext cx="3771900" cy="6915150"/>
        </p:xfrm>
        <a:graphic>
          <a:graphicData uri="http://schemas.openxmlformats.org/presentationml/2006/ole">
            <p:oleObj imgW="5143500" imgH="8293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755673" y="1346403"/>
            <a:ext cx="10776654" cy="101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b="true" sz="6920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DATA SOURCES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2533770"/>
              </a:xfrm>
              <a:custGeom>
                <a:avLst/>
                <a:gdLst/>
                <a:ahLst/>
                <a:cxnLst/>
                <a:rect r="r" b="b" t="t" l="l"/>
                <a:pathLst>
                  <a:path h="253377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397841"/>
              </a:xfrm>
              <a:custGeom>
                <a:avLst/>
                <a:gdLst/>
                <a:ahLst/>
                <a:cxnLst/>
                <a:rect r="r" b="b" t="t" l="l"/>
                <a:pathLst>
                  <a:path h="2397841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24127" cy="2256248"/>
              </a:xfrm>
              <a:custGeom>
                <a:avLst/>
                <a:gdLst/>
                <a:ahLst/>
                <a:cxnLst/>
                <a:rect r="r" b="b" t="t" l="l"/>
                <a:pathLst>
                  <a:path h="2256248" w="824127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2027963" y="1057275"/>
            <a:ext cx="11699473" cy="198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b="true" sz="6827" spc="21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PROJECT ARCHITECTURE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36767" y="3283058"/>
            <a:ext cx="4162574" cy="583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Raw CSV Data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Cleaning &amp; Validation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SQLite Database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EDA &amp; Analysis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 Metrics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 Analytics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Power BI Dashboard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Insights &amp;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9705" y="9925128"/>
            <a:ext cx="17451709" cy="28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paragraph text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641115" y="3003146"/>
            <a:ext cx="424494" cy="422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ctr">
              <a:lnSpc>
                <a:spcPts val="4210"/>
              </a:lnSpc>
              <a:spcBef>
                <a:spcPct val="0"/>
              </a:spcBef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486278" y="1280905"/>
            <a:ext cx="12866314" cy="158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3"/>
              </a:lnSpc>
            </a:pPr>
            <a:r>
              <a:rPr lang="en-US" b="true" sz="5432" spc="17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EDA HIGHLIGHTS – INDUSTRY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1850" y="4140607"/>
            <a:ext cx="14927419" cy="437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b="true" sz="2353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Performed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NAV Trend Analysis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AUM Growth Analysis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Inflow Analysis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Category Inflow Analysis</a:t>
            </a:r>
          </a:p>
          <a:p>
            <a:pPr algn="l">
              <a:lnSpc>
                <a:spcPts val="3295"/>
              </a:lnSpc>
              <a:spcBef>
                <a:spcPct val="0"/>
              </a:spcBef>
            </a:pPr>
            <a:r>
              <a:rPr lang="en-US" b="true" sz="2353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Industry AUM showed continuous growth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SIP inflows increased significantly</a:t>
            </a:r>
          </a:p>
          <a:p>
            <a:pPr algn="l" marL="430997" indent="-215499" lvl="1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SBI Mutual Fund maintained highest AUM</a:t>
            </a:r>
          </a:p>
          <a:p>
            <a:pPr algn="l">
              <a:lnSpc>
                <a:spcPts val="3128"/>
              </a:lnSpc>
              <a:spcBef>
                <a:spcPct val="0"/>
              </a:spcBef>
            </a:pPr>
            <a:r>
              <a:rPr lang="en-US" b="true" sz="2234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Insert:</a:t>
            </a:r>
          </a:p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AUM Chart</a:t>
            </a:r>
          </a:p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Trend Chart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062818" y="1197595"/>
            <a:ext cx="12112108" cy="1503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5"/>
              </a:lnSpc>
            </a:pPr>
            <a:r>
              <a:rPr lang="en-US" b="true" sz="5101" spc="1642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EDA HIGHLIGHTS – INVESTOR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9889" y="3991951"/>
            <a:ext cx="15308222" cy="422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b="true" sz="2563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Performed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Age Group Distribution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Geographic Distribution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Folio Growth Analysis</a:t>
            </a:r>
          </a:p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b="true" sz="2563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26–35 age group was the largest investor segment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Strong participation across multiple states</a:t>
            </a:r>
          </a:p>
          <a:p>
            <a:pPr algn="l" marL="446787" indent="-223394" lvl="1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Investor folios increased steadily</a:t>
            </a:r>
          </a:p>
          <a:p>
            <a:pPr algn="l">
              <a:lnSpc>
                <a:spcPts val="3416"/>
              </a:lnSpc>
              <a:spcBef>
                <a:spcPct val="0"/>
              </a:spcBef>
            </a:pPr>
            <a:r>
              <a:rPr lang="en-US" b="true" sz="2440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Age Group Chart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State-wise Chart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34186" cy="4596335"/>
              </a:xfrm>
              <a:custGeom>
                <a:avLst/>
                <a:gdLst/>
                <a:ahLst/>
                <a:cxnLst/>
                <a:rect r="r" b="b" t="t" l="l"/>
                <a:pathLst>
                  <a:path h="4596335" w="334186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35724" cy="4476587"/>
              </a:xfrm>
              <a:custGeom>
                <a:avLst/>
                <a:gdLst/>
                <a:ahLst/>
                <a:cxnLst/>
                <a:rect r="r" b="b" t="t" l="l"/>
                <a:pathLst>
                  <a:path h="4476587" w="335724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8843" cy="4330374"/>
              </a:xfrm>
              <a:custGeom>
                <a:avLst/>
                <a:gdLst/>
                <a:ahLst/>
                <a:cxnLst/>
                <a:rect r="r" b="b" t="t" l="l"/>
                <a:pathLst>
                  <a:path h="4330374" w="338843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2239616" y="1308566"/>
            <a:ext cx="14190403" cy="148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b="true" sz="5122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FUND PERFORMANCE ANALYTICS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7247" y="2916483"/>
            <a:ext cx="13899658" cy="621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274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Metrics Calculated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Daily Returns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CAGR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Sharpe Ratio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Sortino Ratio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Alpha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Beta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Maximum Drawdown</a:t>
            </a:r>
          </a:p>
          <a:p>
            <a:pPr algn="l">
              <a:lnSpc>
                <a:spcPts val="3729"/>
              </a:lnSpc>
            </a:pPr>
            <a:r>
              <a:rPr lang="en-US" sz="2274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Key Results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Moderate-risk funds achieved highest Sharpe Ratios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Several funds outperformed benchmark indices</a:t>
            </a:r>
          </a:p>
          <a:p>
            <a:pPr algn="l">
              <a:lnSpc>
                <a:spcPts val="3558"/>
              </a:lnSpc>
            </a:pPr>
            <a:r>
              <a:rPr lang="en-US" sz="2169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Insert: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Sharpe Ratio Table</a:t>
            </a:r>
          </a:p>
          <a:p>
            <a:pPr algn="l" marL="423240" indent="-211620" lvl="1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Fund Scorecard</a:t>
            </a:r>
          </a:p>
          <a:p>
            <a:pPr algn="l">
              <a:lnSpc>
                <a:spcPts val="321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5400000">
              <a:off x="0" y="8418368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52643" y="3312049"/>
            <a:ext cx="14505832" cy="541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2269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Implemented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Value at Risk (VaR)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Conditional VaR (CVaR)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Rolling Sharpe Ratio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Cohort Analysis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SIP Continuity Analysis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HHI Sector Risk Analysis</a:t>
            </a:r>
          </a:p>
          <a:p>
            <a:pPr algn="l">
              <a:lnSpc>
                <a:spcPts val="3154"/>
              </a:lnSpc>
            </a:pPr>
            <a:r>
              <a:rPr lang="en-US" sz="2269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Key Insights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Identified high-risk funds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Evaluated sector concentration risk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Built fund recommendation model</a:t>
            </a:r>
          </a:p>
          <a:p>
            <a:pPr algn="l">
              <a:lnSpc>
                <a:spcPts val="3154"/>
              </a:lnSpc>
            </a:pPr>
            <a:r>
              <a:rPr lang="en-US" sz="2269" b="true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Insert: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Rolling Sharpe Chart</a:t>
            </a:r>
          </a:p>
          <a:p>
            <a:pPr algn="l" marL="438948" indent="-219474" lvl="1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HHI Chart</a:t>
            </a:r>
          </a:p>
          <a:p>
            <a:pPr algn="l">
              <a:lnSpc>
                <a:spcPts val="282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392016" y="1460966"/>
            <a:ext cx="14190403" cy="148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b="true" sz="5122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ADVANCED ANALYTICS &amp; RISK METRICS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44416" y="1613366"/>
            <a:ext cx="14190403" cy="148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b="true" sz="5122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DASHBOARD – INDUSTRY &amp; FUND PERFORMANCE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81457" y="4451472"/>
            <a:ext cx="4723507" cy="241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3"/>
              </a:lnSpc>
              <a:spcBef>
                <a:spcPct val="0"/>
              </a:spcBef>
            </a:pPr>
            <a:r>
              <a:rPr lang="en-US" b="true" sz="2745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1: Industry Overview</a:t>
            </a:r>
          </a:p>
          <a:p>
            <a:pPr algn="l" marL="592723" indent="-296362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Total AUM</a:t>
            </a:r>
          </a:p>
          <a:p>
            <a:pPr algn="l" marL="592723" indent="-296362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Inflows</a:t>
            </a:r>
          </a:p>
          <a:p>
            <a:pPr algn="l" marL="592723" indent="-296362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Folios</a:t>
            </a:r>
          </a:p>
          <a:p>
            <a:pPr algn="l" marL="592723" indent="-296362" lvl="1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Industry Trends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37284" y="3773527"/>
            <a:ext cx="8096763" cy="4777132"/>
          </a:xfrm>
          <a:custGeom>
            <a:avLst/>
            <a:gdLst/>
            <a:ahLst/>
            <a:cxnLst/>
            <a:rect r="r" b="b" t="t" l="l"/>
            <a:pathLst>
              <a:path h="4777132" w="8096763">
                <a:moveTo>
                  <a:pt x="0" y="0"/>
                </a:moveTo>
                <a:lnTo>
                  <a:pt x="8096762" y="0"/>
                </a:lnTo>
                <a:lnTo>
                  <a:pt x="8096762" y="4777132"/>
                </a:lnTo>
                <a:lnTo>
                  <a:pt x="0" y="4777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784" t="-18705" r="0" b="-878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2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3501253"/>
            <a:ext cx="8241562" cy="4955377"/>
          </a:xfrm>
          <a:custGeom>
            <a:avLst/>
            <a:gdLst/>
            <a:ahLst/>
            <a:cxnLst/>
            <a:rect r="r" b="b" t="t" l="l"/>
            <a:pathLst>
              <a:path h="4955377" w="8241562">
                <a:moveTo>
                  <a:pt x="0" y="0"/>
                </a:moveTo>
                <a:lnTo>
                  <a:pt x="8241562" y="0"/>
                </a:lnTo>
                <a:lnTo>
                  <a:pt x="8241562" y="4955377"/>
                </a:lnTo>
                <a:lnTo>
                  <a:pt x="0" y="4955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784" t="-17231" r="0" b="-78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18087" y="4567996"/>
            <a:ext cx="4861620" cy="179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6"/>
              </a:lnSpc>
              <a:spcBef>
                <a:spcPct val="0"/>
              </a:spcBef>
            </a:pPr>
            <a:r>
              <a:rPr lang="en-US" b="true" sz="275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2: Fund Performance</a:t>
            </a:r>
          </a:p>
          <a:p>
            <a:pPr algn="l" marL="535923" indent="-267962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Return vs Risk Analysis</a:t>
            </a:r>
          </a:p>
          <a:p>
            <a:pPr algn="l" marL="535923" indent="-267962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 Scorecard</a:t>
            </a:r>
          </a:p>
          <a:p>
            <a:pPr algn="l" marL="535923" indent="-267962" lvl="1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83014" y="4492219"/>
            <a:ext cx="4780508" cy="189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  <a:spcBef>
                <a:spcPct val="0"/>
              </a:spcBef>
            </a:pPr>
            <a:r>
              <a:rPr lang="en-US" b="true" sz="27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3: Investor Analytics</a:t>
            </a:r>
          </a:p>
          <a:p>
            <a:pPr algn="l" marL="588887" indent="-294444" lvl="1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 Analysis</a:t>
            </a:r>
          </a:p>
          <a:p>
            <a:pPr algn="l" marL="588887" indent="-294444" lvl="1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</a:p>
          <a:p>
            <a:pPr algn="l" marL="588887" indent="-294444" lvl="1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Geographic Distribution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80162" y="3415618"/>
            <a:ext cx="7621821" cy="4441708"/>
          </a:xfrm>
          <a:custGeom>
            <a:avLst/>
            <a:gdLst/>
            <a:ahLst/>
            <a:cxnLst/>
            <a:rect r="r" b="b" t="t" l="l"/>
            <a:pathLst>
              <a:path h="4441708" w="7621821">
                <a:moveTo>
                  <a:pt x="0" y="0"/>
                </a:moveTo>
                <a:lnTo>
                  <a:pt x="7621821" y="0"/>
                </a:lnTo>
                <a:lnTo>
                  <a:pt x="7621821" y="4441708"/>
                </a:lnTo>
                <a:lnTo>
                  <a:pt x="0" y="4441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339903" y="3418887"/>
            <a:ext cx="7804097" cy="4636998"/>
          </a:xfrm>
          <a:custGeom>
            <a:avLst/>
            <a:gdLst/>
            <a:ahLst/>
            <a:cxnLst/>
            <a:rect r="r" b="b" t="t" l="l"/>
            <a:pathLst>
              <a:path h="4636998" w="7804097">
                <a:moveTo>
                  <a:pt x="0" y="0"/>
                </a:moveTo>
                <a:lnTo>
                  <a:pt x="7804097" y="0"/>
                </a:lnTo>
                <a:lnTo>
                  <a:pt x="7804097" y="4636998"/>
                </a:lnTo>
                <a:lnTo>
                  <a:pt x="0" y="4636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02055" y="4243740"/>
            <a:ext cx="5197673" cy="192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n-US" b="true" sz="277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4: SIP &amp; Market Trends</a:t>
            </a:r>
          </a:p>
          <a:p>
            <a:pPr algn="l" marL="599012" indent="-299506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SIP Growth</a:t>
            </a:r>
          </a:p>
          <a:p>
            <a:pPr algn="l" marL="599012" indent="-299506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Category Inflows</a:t>
            </a:r>
          </a:p>
          <a:p>
            <a:pPr algn="l" marL="599012" indent="-299506" lvl="1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 Trends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35194" y="1672591"/>
            <a:ext cx="13019115" cy="115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KEY FINDINGS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40063" y="4258917"/>
            <a:ext cx="11386292" cy="281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SIP participation increased steadily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Moderate-risk funds delivered strong risk-adjusted returns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ndustry AUM showed significant growth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</a:t>
            </a: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Some portfolios exhibited concentration risk</a:t>
            </a:r>
          </a:p>
          <a:p>
            <a:pPr algn="l">
              <a:lnSpc>
                <a:spcPts val="4561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by, Namitha Theresa VJ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DAHMMrYt7wo</dc:identifier>
  <dcterms:modified xsi:type="dcterms:W3CDTF">2011-08-01T06:04:30Z</dcterms:modified>
  <cp:revision>1</cp:revision>
  <dc:title>Bluestock_MF_Presentation</dc:title>
</cp:coreProperties>
</file>